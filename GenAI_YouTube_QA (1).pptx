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73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B174-738D-048A-694E-D8AB4930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95947-29D1-2914-810E-AF5ED6DB5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298FF-5DC8-3B38-8CBC-C33A74493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6D607-1E0C-EA25-B338-22BB7E138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94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GEN AI FOR BUSINESS APPLICATIONS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Video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 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2E8F0"/>
                </a:solidFill>
              </a:rPr>
              <a:t>A Fully Local RAG-Based AI Application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Zero API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100% Local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Llama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2918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RAG Architecture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94A3B8"/>
                </a:solidFill>
              </a:rPr>
              <a:t>|  Stevens Institute of Technology  | 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EFA3E-F9E1-A99F-BEBC-A8D856B3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96A04E-C1A3-0047-1186-95C20F731FB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551DFF-D23A-FB4C-E2C8-B9C343BBF0A8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9D3551-D071-73C1-3E0B-47E53FB67F43}"/>
              </a:ext>
            </a:extLst>
          </p:cNvPr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27DCAC-2EFA-D977-7C9A-E6061A7E29F1}"/>
              </a:ext>
            </a:extLst>
          </p:cNvPr>
          <p:cNvSpPr/>
          <p:nvPr/>
        </p:nvSpPr>
        <p:spPr>
          <a:xfrm>
            <a:off x="640080" y="1444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FCC7B2-AAE5-36E9-E55E-132A6A585971}"/>
              </a:ext>
            </a:extLst>
          </p:cNvPr>
          <p:cNvSpPr/>
          <p:nvPr/>
        </p:nvSpPr>
        <p:spPr>
          <a:xfrm>
            <a:off x="640080" y="1947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818EFB3-949B-37EB-7130-DA2CC3CCBFA4}"/>
              </a:ext>
            </a:extLst>
          </p:cNvPr>
          <p:cNvSpPr/>
          <p:nvPr/>
        </p:nvSpPr>
        <p:spPr>
          <a:xfrm>
            <a:off x="640080" y="2450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0D9ECB-BB18-9300-A4B6-70C1D5A7E16E}"/>
              </a:ext>
            </a:extLst>
          </p:cNvPr>
          <p:cNvSpPr/>
          <p:nvPr/>
        </p:nvSpPr>
        <p:spPr>
          <a:xfrm>
            <a:off x="640080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79C02A-5C34-337D-AA34-86EF0477A62C}"/>
              </a:ext>
            </a:extLst>
          </p:cNvPr>
          <p:cNvSpPr/>
          <p:nvPr/>
        </p:nvSpPr>
        <p:spPr>
          <a:xfrm>
            <a:off x="64008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6CBE14E-57FB-B15D-83F7-2B6A1F55AF84}"/>
              </a:ext>
            </a:extLst>
          </p:cNvPr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0E66C5D-2FC7-CE72-0ABB-AE025A60BCAA}"/>
              </a:ext>
            </a:extLst>
          </p:cNvPr>
          <p:cNvSpPr/>
          <p:nvPr/>
        </p:nvSpPr>
        <p:spPr>
          <a:xfrm>
            <a:off x="5212080" y="1444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A2768B9-0426-21D8-E197-3319D8FF44E7}"/>
              </a:ext>
            </a:extLst>
          </p:cNvPr>
          <p:cNvSpPr/>
          <p:nvPr/>
        </p:nvSpPr>
        <p:spPr>
          <a:xfrm>
            <a:off x="5212080" y="1947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326B07-5DC4-869D-27A1-9B99271821D2}"/>
              </a:ext>
            </a:extLst>
          </p:cNvPr>
          <p:cNvSpPr/>
          <p:nvPr/>
        </p:nvSpPr>
        <p:spPr>
          <a:xfrm>
            <a:off x="5212080" y="2450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EC8B440-33AC-6E29-D694-A0D824D22398}"/>
              </a:ext>
            </a:extLst>
          </p:cNvPr>
          <p:cNvSpPr/>
          <p:nvPr/>
        </p:nvSpPr>
        <p:spPr>
          <a:xfrm>
            <a:off x="5212080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2D68464-353B-8D2F-939D-B9BC22B5AD30}"/>
              </a:ext>
            </a:extLst>
          </p:cNvPr>
          <p:cNvSpPr/>
          <p:nvPr/>
        </p:nvSpPr>
        <p:spPr>
          <a:xfrm>
            <a:off x="521208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58ADE45-0F1A-ECB9-E0C2-738C0F286EC0}"/>
              </a:ext>
            </a:extLst>
          </p:cNvPr>
          <p:cNvSpPr/>
          <p:nvPr/>
        </p:nvSpPr>
        <p:spPr>
          <a:xfrm>
            <a:off x="41605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292936-8940-CD4E-A334-8AED3D1DD8DF}"/>
              </a:ext>
            </a:extLst>
          </p:cNvPr>
          <p:cNvSpPr txBox="1"/>
          <p:nvPr/>
        </p:nvSpPr>
        <p:spPr>
          <a:xfrm>
            <a:off x="500932" y="365760"/>
            <a:ext cx="275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:- 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B608297-0FB6-D0A2-29D1-F52D573DB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01" y="1168842"/>
            <a:ext cx="1702633" cy="301618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C8DDCA-31DF-D243-9E14-C1782C74B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121" y="1144988"/>
            <a:ext cx="1672275" cy="302149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B2C24C8-5555-C7FF-5A7C-35D217123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844" y="1137036"/>
            <a:ext cx="1627514" cy="30234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6530B77-08EA-0204-A4CA-08F1439D9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197" y="1113184"/>
            <a:ext cx="1580743" cy="304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7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&amp;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1E2952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Long YouTube videos are hard to navigate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Re-watching takes too much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No way to ask questions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Cloud AI costs money per API 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Sending data to cloud = privacy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OUR 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444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Paste URL → ask any question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1536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1947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AI finds relevant parts automatically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20391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2450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Natural language Q&amp;A interface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25420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Runs 100% locally — zero API cost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30449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Data never leaves your computer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547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605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Core Concept: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</a:rPr>
              <a:t>Retrieval Augmented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</a:rPr>
              <a:t>💡  Analogy: You have a 500-page book and someone asks a question. You don't re-read the whole book — you find the relevant pages first, then answer from those pages. That's RAG.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265176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Find the most relevant chunks from the video transcript using semantic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51760" cy="2651760"/>
          </a:xfrm>
          <a:prstGeom prst="rect">
            <a:avLst/>
          </a:prstGeom>
          <a:solidFill>
            <a:srgbClr val="1E2952"/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265176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AUGMENTED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651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Add those relevant chunks as context to our prompt before sending to the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651760" cy="2651760"/>
          </a:xfrm>
          <a:prstGeom prst="rect">
            <a:avLst/>
          </a:prstGeom>
          <a:solidFill>
            <a:srgbClr val="1E2952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651760" cy="5486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6517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The AI generates a precise answer using only the provided context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Why RAG?  LLMs don't know about your specific video. We can't feed the whole transcript (too long). RAG solves both problems —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2743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1: INDEXING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0" y="777240"/>
            <a:ext cx="201168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777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2: QUERYING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77724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YouTube URL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User Input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156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1188720"/>
            <a:ext cx="77724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11887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Transcript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youtube-transcript-api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6596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1188720"/>
            <a:ext cx="77724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11887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Text Chunks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500 words + 100 overlap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8036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1188720"/>
            <a:ext cx="77724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11887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sentence-transformers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794760" y="12801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1188720"/>
            <a:ext cx="77724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0" y="11887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ChromaDB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Vector Storage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73152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188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Question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User Input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77840" y="12801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0" y="1188720"/>
            <a:ext cx="73152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1188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sentence-transformers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400800" y="12801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1188720"/>
            <a:ext cx="73152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1188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3 Chunks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Semantic Search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223760" y="12801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0" y="1188720"/>
            <a:ext cx="73152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15200" y="1188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Prompt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Q + Context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46720" y="12801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38160" y="1188720"/>
            <a:ext cx="731520" cy="6858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38160" y="1188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Answer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3816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Ollama + Llama 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2514600"/>
            <a:ext cx="146304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51460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28800" y="2514600"/>
            <a:ext cx="256032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874520" y="251460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89120" y="2514600"/>
            <a:ext cx="320040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434840" y="251460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Purpose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816352"/>
            <a:ext cx="146304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1480" y="28163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Transcript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0" y="2816352"/>
            <a:ext cx="256032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74520" y="281635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youtube-transcript-api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89120" y="2816352"/>
            <a:ext cx="320040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434840" y="2816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Extract video captions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3118104"/>
            <a:ext cx="146304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311810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Metadata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828800" y="3118104"/>
            <a:ext cx="256032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874520" y="311810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yt-dlp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389120" y="3118104"/>
            <a:ext cx="320040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434840" y="311810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Get title, duration, info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3419856"/>
            <a:ext cx="146304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11480" y="341985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Embeddings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828800" y="3419856"/>
            <a:ext cx="256032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874520" y="34198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sentence-transformers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389120" y="3419856"/>
            <a:ext cx="320040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434840" y="341985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Convert text to vectors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3721608"/>
            <a:ext cx="146304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372160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Vector DB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828800" y="3721608"/>
            <a:ext cx="256032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874520" y="372160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ChromaDB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389120" y="3721608"/>
            <a:ext cx="320040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434840" y="37216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Store &amp; search embeddings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65760" y="4023360"/>
            <a:ext cx="146304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11480" y="40233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LLM Runtime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828800" y="4023360"/>
            <a:ext cx="256032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874520" y="402336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Ollama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389120" y="4023360"/>
            <a:ext cx="320040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434840" y="402336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Run AI model locally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65760" y="4325112"/>
            <a:ext cx="146304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11480" y="43251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AI Model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0" y="4325112"/>
            <a:ext cx="256032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874520" y="432511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Llama 2 (7B)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389120" y="4325112"/>
            <a:ext cx="3200400" cy="30175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434840" y="432511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Generate answers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65760" y="4626864"/>
            <a:ext cx="146304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1480" y="462686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UI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1828800" y="4626864"/>
            <a:ext cx="256032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874520" y="462686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Streamlit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389120" y="4626864"/>
            <a:ext cx="3200400" cy="30175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434840" y="462686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Web interface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Concept: Embeddings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How computers understand the meaning of 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1E2952"/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An embedding converts a sentence into a list of numbers (a vector) that captures its meaning. Similar sentences produce similar vectors — even if they use completely different words.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50292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dogs"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2103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-0.14, 0.87, 0.41, ...]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502920"/>
          </a:xfrm>
          <a:prstGeom prst="rect">
            <a:avLst/>
          </a:prstGeom>
          <a:solidFill>
            <a:srgbClr val="1E29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adore puppies"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[0.25, -0.12, 0.85, 0.39, ...]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solidFill>
            <a:srgbClr val="1E2952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do EVs work?"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291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3291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[0.61, 0.23, -0.44, 0.17, ...]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1A1040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🔑  Why this matters: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245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"I love dogs" and "I adore puppies" have almost identical vectors → ChromaDB knows they mean the same thing. This is SEMANTIC SEARCH — finding similar meaning, not just matching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1E295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Model used:  all-MiniLM-L6-v2  (384-dimensional vectors)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Text Chunking &amp; Vector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</a:rPr>
              <a:t>TEXT CHUNKING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246888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chunk the transcript?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LLMs have a context limit (can't read all at once)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92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Smaller chunks = more precise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2257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276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Overlap prevents losing info at boundaries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Our settings: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1645920" cy="411480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500 words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per chunk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999232"/>
            <a:ext cx="1645920" cy="411480"/>
          </a:xfrm>
          <a:prstGeom prst="rect">
            <a:avLst/>
          </a:prstGeom>
          <a:solidFill>
            <a:srgbClr val="111535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100 word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overlap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2286000" cy="27432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3566160"/>
            <a:ext cx="2286000" cy="274320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Chunk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604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Chunk 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0" y="3566160"/>
            <a:ext cx="64008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0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overlap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</a:rPr>
              <a:t>CHROMADB — VECTOR DATABASE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078992"/>
            <a:ext cx="3931920" cy="3474720"/>
          </a:xfrm>
          <a:prstGeom prst="rect">
            <a:avLst/>
          </a:prstGeom>
          <a:solidFill>
            <a:srgbClr val="1E29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makes it special?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572768"/>
            <a:ext cx="3566160" cy="548640"/>
          </a:xfrm>
          <a:prstGeom prst="rect">
            <a:avLst/>
          </a:prstGeom>
          <a:solidFill>
            <a:srgbClr val="1115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0" y="1572768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1600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Stores embeddings locally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 cloud — everything on your Mac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2212848"/>
            <a:ext cx="3566160" cy="548640"/>
          </a:xfrm>
          <a:prstGeom prst="rect">
            <a:avLst/>
          </a:prstGeom>
          <a:solidFill>
            <a:srgbClr val="1115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0" y="2212848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2240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Semantic 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468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Finds similar meaning, not keywords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2852928"/>
            <a:ext cx="3566160" cy="548640"/>
          </a:xfrm>
          <a:prstGeom prst="rect">
            <a:avLst/>
          </a:prstGeom>
          <a:solidFill>
            <a:srgbClr val="1115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0" y="2852928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2880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Instant retrieval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Returns top-3 similar chunks in 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3493008"/>
            <a:ext cx="3566160" cy="548640"/>
          </a:xfrm>
          <a:prstGeom prst="rect">
            <a:avLst/>
          </a:prstGeom>
          <a:solidFill>
            <a:srgbClr val="1115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0" y="3493008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66360" y="3520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Persistent 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3749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Saved in chroma_db/ folder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0" y="4160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Regular DB: 'Does this contain the word car?'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Vector DB: 'Which entries are most similar to car?'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Local AI: Ollama + Llama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320040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🦙  OLLAMA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Runs AI models locally on your Mac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Uses Apple Metal GPU (M1/M2/M3)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Acts as a local server on port 11434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Free and open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No internet needed after setup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023360" cy="320040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🤖  LLAMA 2 (7B)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298448"/>
            <a:ext cx="3657600" cy="384048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2984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Parameters: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2984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7 Billion weights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755648"/>
            <a:ext cx="3657600" cy="384048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7556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Creator: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17556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Meta (Facebook)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212848"/>
            <a:ext cx="3657600" cy="384048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212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Format: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2128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GGUF (quantized)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670048"/>
            <a:ext cx="3657600" cy="384048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670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Quantization: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6700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Q4_0 (4-bit compressed)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127248"/>
            <a:ext cx="3657600" cy="384048"/>
          </a:xfrm>
          <a:prstGeom prst="rect">
            <a:avLst/>
          </a:prstGeom>
          <a:solidFill>
            <a:srgbClr val="111535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127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Cost: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127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$0 — fully free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</a:rPr>
              <a:t>COST COMPARISON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462272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Component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0" y="4462272"/>
            <a:ext cx="3108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71800" y="4462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Cloud Version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4462272"/>
            <a:ext cx="2743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80760" y="4462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Our Version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718304"/>
            <a:ext cx="256032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47183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LLM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26080" y="4718304"/>
            <a:ext cx="310896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71800" y="4718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GPT-4: ~$0.03/question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35040" y="4718304"/>
            <a:ext cx="274320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80760" y="47183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</a:rPr>
              <a:t>$0 (Llama 2 local)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4974336"/>
            <a:ext cx="2560320" cy="25603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9743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Embeddings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926080" y="4974336"/>
            <a:ext cx="3108960" cy="25603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971800" y="49743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OpenAI: $0.0001/chunk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35040" y="4974336"/>
            <a:ext cx="2743200" cy="256032"/>
          </a:xfrm>
          <a:prstGeom prst="rect">
            <a:avLst/>
          </a:prstGeom>
          <a:solidFill>
            <a:srgbClr val="1E29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80760" y="49743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</a:rPr>
              <a:t>$0 (local model)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5230368"/>
            <a:ext cx="256032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5230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Vector DB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26080" y="5230368"/>
            <a:ext cx="310896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971800" y="5230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Pinecone: $70/month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35040" y="5230368"/>
            <a:ext cx="2743200" cy="256032"/>
          </a:xfrm>
          <a:prstGeom prst="rect">
            <a:avLst/>
          </a:prstGeom>
          <a:solidFill>
            <a:srgbClr val="1115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80760" y="52303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</a:rPr>
              <a:t>$0 (ChromaDB local)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5760" y="5486400"/>
            <a:ext cx="256032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11480" y="5486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TOTAL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26080" y="5486400"/>
            <a:ext cx="310896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971800" y="5486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$100+/month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35040" y="5486400"/>
            <a:ext cx="274320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80760" y="5486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$0 forever 🎉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Interface: Streamlit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</a:rPr>
              <a:t>WHAT IS STREAMLIT?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192024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Streamlit turns Python scripts into web apps — no HTML, CSS, or JavaScript needed.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Python!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st.title("YouTube Q&amp;A")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st.text_input("URL:")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140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st.button("Load Video"):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process_video(url)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</a:rPr>
              <a:t>APP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420624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6048" y="1115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📥 Sidebar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1325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Paste URL → Load &amp; Process video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3931920" cy="420624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572768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1591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🤖 Q&amp;A Tab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1801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Ask questions → Get AI answers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048256"/>
            <a:ext cx="3931920" cy="420624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048256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20665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✨ Summary Tab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2276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Auto-generate video summary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523744"/>
            <a:ext cx="3931920" cy="420624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2542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📝 Transcript Tab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2752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View full transcript text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999232"/>
            <a:ext cx="3931920" cy="420624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999232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📊 Info Tab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3227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Video metadata, word count, duration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154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HOW TO RUN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56432"/>
            <a:ext cx="2743200" cy="141732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920" y="354787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5478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Terminal 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Start AI server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456432"/>
            <a:ext cx="2743200" cy="141732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29000" y="354787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29000" y="35478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Terminal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youtube_qa_simple.py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Start web app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3456432"/>
            <a:ext cx="2743200" cy="141732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55080" y="354787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35478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Browser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0936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Open the 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 World Applications of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The same architecture we built powers these industry tools: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Copilot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RAG over your codebase to suggest code completions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ChatGPT Plugins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Q&amp;A over external documents and websites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Legal Research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8013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Search and Q&amp;A over thousands of case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Medical Assistants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Q&amp;A over patient records and medical literature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7432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3280" y="2926080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Enterprise Search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Internal knowledge base Q&amp;A for companies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743200"/>
            <a:ext cx="2743200" cy="1554480"/>
          </a:xfrm>
          <a:prstGeom prst="rect">
            <a:avLst/>
          </a:prstGeom>
          <a:solidFill>
            <a:srgbClr val="1E2952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7432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2926080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1228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EdTech Tools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Q&amp;A over textbooks, lectures, study materials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</a:rPr>
              <a:t>💡  Learning RAG = Understanding how most production AI applications work today.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640080" cy="11887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RAG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The industry standard for building AI Q&amp;A systems over custom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640080" cy="118872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82296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987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Vector Embeddings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325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How to convert text into numbers that capture meaning — the foundation of modern AI 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640080" cy="11887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313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Local LLMs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Run powerful AI models completely free on your own hardware with Ollama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640080" cy="118872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2313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Vector Databases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651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 new category of database optimized for semantic search over embeddings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640080" cy="11887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47472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639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Streamlit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Build professional AI web applications rapidly with pure Python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206240" cy="1188720"/>
          </a:xfrm>
          <a:prstGeom prst="rect">
            <a:avLst/>
          </a:prstGeom>
          <a:solidFill>
            <a:srgbClr val="1E29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640080" cy="118872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47472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3639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End-to-End AI Pipeline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Connect multiple AI tools together into a production-ready application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1E2952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One sentence summary:  Built a RAG system using YouTube transcripts, semantic embeddings, ChromaDB, and local Llama 2 — all for $0.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B82F6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423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RAG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423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423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ChromaDB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92608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Ollama + Llama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92608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92608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952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$0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M.S. Business Intelligence &amp; Analytics  |  Stevens Institute of Technology  | 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Gen AI for Business Applications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</a:rPr>
              <a:t>Fully Local  •  Zero API Costs  •  Open Source  •  RAG Architecture  •  Llama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1155</Words>
  <Application>Microsoft Macintosh PowerPoint</Application>
  <PresentationFormat>On-screen Show (16:9)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Q&amp;A System - GenAI Project</dc:title>
  <dc:subject>PptxGenJS Presentation</dc:subject>
  <dc:creator>PptxGenJS</dc:creator>
  <cp:lastModifiedBy>Aman Chouksey</cp:lastModifiedBy>
  <cp:revision>3</cp:revision>
  <dcterms:created xsi:type="dcterms:W3CDTF">2026-04-22T00:21:56Z</dcterms:created>
  <dcterms:modified xsi:type="dcterms:W3CDTF">2026-05-02T17:51:26Z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2026-05-02T17:48:41Z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2792b5c1-8111-4b11-a982-4fde323ac5d6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50, 3, 0, 1</vt:lpwstr>
  </property>
</Properties>
</file>